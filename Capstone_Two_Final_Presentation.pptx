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c7c9382cd4062" /><Relationship Type="http://schemas.openxmlformats.org/officeDocument/2006/relationships/extended-properties" Target="/docProps/app.xml" Id="Rb97d8fc9b6154e89" /><Relationship Type="http://schemas.openxmlformats.org/officeDocument/2006/relationships/officeDocument" Target="/ppt/presentation.xml" Id="Rb35747aaa5604d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56a0f5b9c4ce6"/>
  </p:sldMasterIdLst>
  <p:notesMasterIdLst>
    <p:notesMasterId xmlns:r="http://schemas.openxmlformats.org/officeDocument/2006/relationships" r:id="Rcd7b96e2b87b40fa"/>
  </p:notesMasterIdLst>
  <p:sldIdLst>
    <p:sldId xmlns:r="http://schemas.openxmlformats.org/officeDocument/2006/relationships" id="256" r:id="R82d4ddc080fa4bc4"/>
    <p:sldId xmlns:r="http://schemas.openxmlformats.org/officeDocument/2006/relationships" id="257" r:id="Re15b836f279a4a97"/>
    <p:sldId xmlns:r="http://schemas.openxmlformats.org/officeDocument/2006/relationships" id="258" r:id="R40428bc29d284dfa"/>
    <p:sldId xmlns:r="http://schemas.openxmlformats.org/officeDocument/2006/relationships" id="259" r:id="Rcf6b15d37738487a"/>
    <p:sldId xmlns:r="http://schemas.openxmlformats.org/officeDocument/2006/relationships" id="260" r:id="Ra9880d47c34e41f8"/>
    <p:sldId xmlns:r="http://schemas.openxmlformats.org/officeDocument/2006/relationships" id="261" r:id="R446e87f3bba84056"/>
    <p:sldId xmlns:r="http://schemas.openxmlformats.org/officeDocument/2006/relationships" id="262" r:id="Reda7131521164587"/>
    <p:sldId xmlns:r="http://schemas.openxmlformats.org/officeDocument/2006/relationships" id="263" r:id="R6e8016e319a84940"/>
    <p:sldId xmlns:r="http://schemas.openxmlformats.org/officeDocument/2006/relationships" id="264" r:id="Rb1a79e118d3042f1"/>
    <p:sldId xmlns:r="http://schemas.openxmlformats.org/officeDocument/2006/relationships" id="265" r:id="Red34ec9409a340a7"/>
    <p:sldId xmlns:r="http://schemas.openxmlformats.org/officeDocument/2006/relationships" id="266" r:id="R55cb18c528a4468b"/>
    <p:sldId xmlns:r="http://schemas.openxmlformats.org/officeDocument/2006/relationships" id="267" r:id="R6fdabc5a204748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bdfbaf612a4eaf" /><Relationship Type="http://schemas.openxmlformats.org/officeDocument/2006/relationships/slideMaster" Target="/ppt/slideMasters/slideMaster1.xml" Id="R09156a0f5b9c4ce6" /><Relationship Type="http://schemas.openxmlformats.org/officeDocument/2006/relationships/notesMaster" Target="/ppt/notesMasters/notesMaster1.xml" Id="Rcd7b96e2b87b40fa" /><Relationship Type="http://schemas.openxmlformats.org/officeDocument/2006/relationships/presProps" Target="/ppt/presProps.xml" Id="Rf758fe1dc6244eac" /><Relationship Type="http://schemas.openxmlformats.org/officeDocument/2006/relationships/tableStyles" Target="/ppt/tableStyles.xml" Id="R30adcb9850b5413c" /><Relationship Type="http://schemas.openxmlformats.org/officeDocument/2006/relationships/slide" Target="/ppt/slides/slide1.xml" Id="R82d4ddc080fa4bc4" /><Relationship Type="http://schemas.openxmlformats.org/officeDocument/2006/relationships/slide" Target="/ppt/slides/slide2.xml" Id="Re15b836f279a4a97" /><Relationship Type="http://schemas.openxmlformats.org/officeDocument/2006/relationships/slide" Target="/ppt/slides/slide3.xml" Id="R40428bc29d284dfa" /><Relationship Type="http://schemas.openxmlformats.org/officeDocument/2006/relationships/slide" Target="/ppt/slides/slide4.xml" Id="Rcf6b15d37738487a" /><Relationship Type="http://schemas.openxmlformats.org/officeDocument/2006/relationships/slide" Target="/ppt/slides/slide5.xml" Id="Ra9880d47c34e41f8" /><Relationship Type="http://schemas.openxmlformats.org/officeDocument/2006/relationships/slide" Target="/ppt/slides/slide6.xml" Id="R446e87f3bba84056" /><Relationship Type="http://schemas.openxmlformats.org/officeDocument/2006/relationships/slide" Target="/ppt/slides/slide7.xml" Id="Reda7131521164587" /><Relationship Type="http://schemas.openxmlformats.org/officeDocument/2006/relationships/slide" Target="/ppt/slides/slide8.xml" Id="R6e8016e319a84940" /><Relationship Type="http://schemas.openxmlformats.org/officeDocument/2006/relationships/slide" Target="/ppt/slides/slide9.xml" Id="Rb1a79e118d3042f1" /><Relationship Type="http://schemas.openxmlformats.org/officeDocument/2006/relationships/slide" Target="/ppt/slides/slide10.xml" Id="Red34ec9409a340a7" /><Relationship Type="http://schemas.openxmlformats.org/officeDocument/2006/relationships/slide" Target="/ppt/slides/slide11.xml" Id="R55cb18c528a4468b" /><Relationship Type="http://schemas.openxmlformats.org/officeDocument/2006/relationships/slide" Target="/ppt/slides/slide12.xml" Id="R6fdabc5a2047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c1bd5eed3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488f22fd446ba" /><Relationship Type="http://schemas.openxmlformats.org/officeDocument/2006/relationships/notesMaster" Target="/ppt/notesMasters/notesMaster1.xml" Id="R47db2123536e45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4de395a474b74" /><Relationship Type="http://schemas.openxmlformats.org/officeDocument/2006/relationships/notesMaster" Target="/ppt/notesMasters/notesMaster1.xml" Id="R7f220870c84c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2e844ae1f441f3" /><Relationship Type="http://schemas.openxmlformats.org/officeDocument/2006/relationships/notesMaster" Target="/ppt/notesMasters/notesMaster1.xml" Id="R5b5889eb589f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46235e42d04d52" /><Relationship Type="http://schemas.openxmlformats.org/officeDocument/2006/relationships/notesMaster" Target="/ppt/notesMasters/notesMaster1.xml" Id="R718f4ad6fdab43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6ea6f7ff5d45db" /><Relationship Type="http://schemas.openxmlformats.org/officeDocument/2006/relationships/notesMaster" Target="/ppt/notesMasters/notesMaster1.xml" Id="R9338f3db264649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573c5cef6485a" /><Relationship Type="http://schemas.openxmlformats.org/officeDocument/2006/relationships/notesMaster" Target="/ppt/notesMasters/notesMaster1.xml" Id="Rbddb03e13d5a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bb633d05f24797" /><Relationship Type="http://schemas.openxmlformats.org/officeDocument/2006/relationships/notesMaster" Target="/ppt/notesMasters/notesMaster1.xml" Id="Rbe9047aa7e4442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acd7ea5bef492c" /><Relationship Type="http://schemas.openxmlformats.org/officeDocument/2006/relationships/notesMaster" Target="/ppt/notesMasters/notesMaster1.xml" Id="Re001f1993ac3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dd3e3432f84291" /><Relationship Type="http://schemas.openxmlformats.org/officeDocument/2006/relationships/notesMaster" Target="/ppt/notesMasters/notesMaster1.xml" Id="R34d32f1eee0b4f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57915729824f91" /><Relationship Type="http://schemas.openxmlformats.org/officeDocument/2006/relationships/notesMaster" Target="/ppt/notesMasters/notesMaster1.xml" Id="Ra693b26aaf5f4c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5bb4eda61c4a21" /><Relationship Type="http://schemas.openxmlformats.org/officeDocument/2006/relationships/notesMaster" Target="/ppt/notesMasters/notesMaster1.xml" Id="R5d4e0e6267814a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7c792e40e7416c" /><Relationship Type="http://schemas.openxmlformats.org/officeDocument/2006/relationships/notesMaster" Target="/ppt/notesMasters/notesMaster1.xml" Id="R2af74a8d3c22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goal: predict Florida's next monthly ZHVI using only information already available. Data source: Zillow Research, https://www.zillow.com/research/data/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final scope changed after reviewing the available variables. This is a deliberate correction, not a claim that ZHVI alone measures undervaluation.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course-project zhvi.csv. Zillow defines ZHVI as a measure of typical home value and market changes. https://www.zillow.com/research/data/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Florida ZHVI rose from about $107,000 in January 2000 to about $370,000 in January 2026. Source: course-project dataset; underlying publisher Zillow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must handle both rapid appreciation and cooling. Calculations use 12-month percentage change in Florida ZHVI.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rolling statistics are shifted before calculation. This prevents current-month information from leaking into the predictors.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scikit-learn TimeSeriesSplit.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Cross-validation MAE determines model selection. Ridge alpha was tuned over 0.01, 0.1, 1, 10, and 100. Best alpha: 0.01.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Holdout covers January 2021 through January 2026. The ridge model was selected using cross-validation before the holdout metrics were reviewed.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 equals actual minus ridge prediction. A positive mean means the model underpredicted by $178 on average during the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 forest holdout MAE: $101,385. Gradient boosting holdout MAE: $102,536. This is a model-class limitation on an upward level series, not evidence that trees are always poor forecasters.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what the project demonstrates from what a future investment model must add. Invite questions and mentor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ac74308b642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068c177fa4127" /><Relationship Type="http://schemas.openxmlformats.org/officeDocument/2006/relationships/slideLayout" Target="/ppt/slideLayouts/slideLayout1.xml" Id="R0463c31a9f5b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3c31a9f5b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3bbc90f748fd" /><Relationship Type="http://schemas.openxmlformats.org/officeDocument/2006/relationships/notesSlide" Target="/ppt/notesSlides/notesSlide1.xml" Id="R14bda8ca750846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c306b784b49c8" /><Relationship Type="http://schemas.openxmlformats.org/officeDocument/2006/relationships/notesSlide" Target="/ppt/notesSlides/notesSlide2.xml" Id="R0940e34d48f146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f794682f84d90" /><Relationship Type="http://schemas.openxmlformats.org/officeDocument/2006/relationships/notesSlide" Target="/ppt/notesSlides/notesSlide3.xml" Id="R3073269dee934e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2d09e9bba44fe" /><Relationship Type="http://schemas.openxmlformats.org/officeDocument/2006/relationships/chart" Target="/ppt/slides/charts/chart1.xml" Id="R25df3a02f1dc4750" /><Relationship Type="http://schemas.openxmlformats.org/officeDocument/2006/relationships/notesSlide" Target="/ppt/notesSlides/notesSlide4.xml" Id="R79f43b42df4a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61bbe9cf4412" /><Relationship Type="http://schemas.openxmlformats.org/officeDocument/2006/relationships/chart" Target="/ppt/slides/charts/chart2.xml" Id="Rd35c353f2313433c" /><Relationship Type="http://schemas.openxmlformats.org/officeDocument/2006/relationships/notesSlide" Target="/ppt/notesSlides/notesSlide5.xml" Id="Rdebc654804d7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a8951d6c4abb" /><Relationship Type="http://schemas.openxmlformats.org/officeDocument/2006/relationships/notesSlide" Target="/ppt/notesSlides/notesSlide6.xml" Id="R13aa8699d321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f9086c394229" /><Relationship Type="http://schemas.openxmlformats.org/officeDocument/2006/relationships/notesSlide" Target="/ppt/notesSlides/notesSlide7.xml" Id="Ra5710dec48374d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664d668d4dd7" /><Relationship Type="http://schemas.openxmlformats.org/officeDocument/2006/relationships/chart" Target="/ppt/slides/charts/chart3.xml" Id="R20790870332646de" /><Relationship Type="http://schemas.openxmlformats.org/officeDocument/2006/relationships/notesSlide" Target="/ppt/notesSlides/notesSlide8.xml" Id="Ref2b5528824b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b336c0a345eb" /><Relationship Type="http://schemas.openxmlformats.org/officeDocument/2006/relationships/chart" Target="/ppt/slides/charts/chart4.xml" Id="R810f14c30133415e" /><Relationship Type="http://schemas.openxmlformats.org/officeDocument/2006/relationships/notesSlide" Target="/ppt/notesSlides/notesSlide9.xml" Id="Rb6fd03d74e8047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0cce340c469b" /><Relationship Type="http://schemas.openxmlformats.org/officeDocument/2006/relationships/chart" Target="/ppt/slides/charts/chart5.xml" Id="Ra77fc554456d4608" /><Relationship Type="http://schemas.openxmlformats.org/officeDocument/2006/relationships/notesSlide" Target="/ppt/notesSlides/notesSlide10.xml" Id="R4e16dfc9ae0e4c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823935624312" /><Relationship Type="http://schemas.openxmlformats.org/officeDocument/2006/relationships/chart" Target="/ppt/slides/charts/chart6.xml" Id="Re3c212bb48d14417" /><Relationship Type="http://schemas.openxmlformats.org/officeDocument/2006/relationships/notesSlide" Target="/ppt/notesSlides/notesSlide11.xml" Id="R9ddb9d1c398145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b896f59c4c25" /><Relationship Type="http://schemas.openxmlformats.org/officeDocument/2006/relationships/notesSlide" Target="/ppt/notesSlides/notesSlide12.xml" Id="Rc956c1dc22b146e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Florida ZHVI</c:v>
          </c:tx>
          <c:spPr>
            <a:ln xmlns:a="http://schemas.openxmlformats.org/drawingml/2006/main" w="28575">
              <a:solidFill>
                <a:srgbClr val="0B6E6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7"/>
              <c:pt idx="0">
                <c:v>2000</c:v>
              </c:pt>
              <c:pt idx="1">
                <c:v>2001</c:v>
              </c:pt>
              <c:pt idx="2">
                <c:v>2002</c:v>
              </c:pt>
              <c:pt idx="3">
                <c:v>2003</c:v>
              </c:pt>
              <c:pt idx="4">
                <c:v>2004</c:v>
              </c:pt>
              <c:pt idx="5">
                <c:v>2005</c:v>
              </c:pt>
              <c:pt idx="6">
                <c:v>2006</c:v>
              </c:pt>
              <c:pt idx="7">
                <c:v>2007</c:v>
              </c:pt>
              <c:pt idx="8">
                <c:v>2008</c:v>
              </c:pt>
              <c:pt idx="9">
                <c:v>2009</c:v>
              </c:pt>
              <c:pt idx="10">
                <c:v>2010</c:v>
              </c:pt>
              <c:pt idx="11">
                <c:v>2011</c:v>
              </c:pt>
              <c:pt idx="12">
                <c:v>2012</c:v>
              </c:pt>
              <c:pt idx="13">
                <c:v>2013</c:v>
              </c:pt>
              <c:pt idx="14">
                <c:v>2014</c:v>
              </c:pt>
              <c:pt idx="15">
                <c:v>2015</c:v>
              </c:pt>
              <c:pt idx="16">
                <c:v>2016</c:v>
              </c:pt>
              <c:pt idx="17">
                <c:v>2017</c:v>
              </c:pt>
              <c:pt idx="18">
                <c:v>2018</c:v>
              </c:pt>
              <c:pt idx="19">
                <c:v>2019</c:v>
              </c:pt>
              <c:pt idx="20">
                <c:v>2020</c:v>
              </c:pt>
              <c:pt idx="21">
                <c:v>2021</c:v>
              </c:pt>
              <c:pt idx="22">
                <c:v>2022</c:v>
              </c:pt>
              <c:pt idx="23">
                <c:v>2023</c:v>
              </c:pt>
              <c:pt idx="24">
                <c:v>2024</c:v>
              </c:pt>
              <c:pt idx="25">
                <c:v>2025</c:v>
              </c:pt>
              <c:pt idx="26">
                <c:v>2026</c:v>
              </c:pt>
            </c:numLit>
          </c:cat>
          <c:val>
            <c:numLit>
              <c:formatCode>$0,K</c:formatCode>
              <c:ptCount val="27"/>
              <c:pt idx="0">
                <c:v>106839.4375130072</c:v>
              </c:pt>
              <c:pt idx="1">
                <c:v>113881.38459794798</c:v>
              </c:pt>
              <c:pt idx="2">
                <c:v>125198.05931127146</c:v>
              </c:pt>
              <c:pt idx="3">
                <c:v>138217.03845852634</c:v>
              </c:pt>
              <c:pt idx="4">
                <c:v>155546.0266328222</c:v>
              </c:pt>
              <c:pt idx="5">
                <c:v>183576.54094014273</c:v>
              </c:pt>
              <c:pt idx="6">
                <c:v>234148.93007677988</c:v>
              </c:pt>
              <c:pt idx="7">
                <c:v>254180.90208900385</c:v>
              </c:pt>
              <c:pt idx="8">
                <c:v>224128.96949073815</c:v>
              </c:pt>
              <c:pt idx="9">
                <c:v>176379.13381167178</c:v>
              </c:pt>
              <c:pt idx="10">
                <c:v>149421.51843574262</c:v>
              </c:pt>
              <c:pt idx="11">
                <c:v>137970.79009697062</c:v>
              </c:pt>
              <c:pt idx="12">
                <c:v>128759.35953521194</c:v>
              </c:pt>
              <c:pt idx="13">
                <c:v>137144.27683772732</c:v>
              </c:pt>
              <c:pt idx="14">
                <c:v>157840.42661516</c:v>
              </c:pt>
              <c:pt idx="15">
                <c:v>172751.31047059366</c:v>
              </c:pt>
              <c:pt idx="16">
                <c:v>189659.40545608025</c:v>
              </c:pt>
              <c:pt idx="17">
                <c:v>205512.48336831536</c:v>
              </c:pt>
              <c:pt idx="18">
                <c:v>222199.208309855</c:v>
              </c:pt>
              <c:pt idx="19">
                <c:v>237312.61425137412</c:v>
              </c:pt>
              <c:pt idx="20">
                <c:v>247968.50444144174</c:v>
              </c:pt>
              <c:pt idx="21">
                <c:v>270971.1322747543</c:v>
              </c:pt>
              <c:pt idx="22">
                <c:v>333326.0255829364</c:v>
              </c:pt>
              <c:pt idx="23">
                <c:v>385088.6754893208</c:v>
              </c:pt>
              <c:pt idx="24">
                <c:v>394737.9095697287</c:v>
              </c:pt>
              <c:pt idx="25">
                <c:v>389236.493985079</c:v>
              </c:pt>
              <c:pt idx="26">
                <c:v>370111.69125812204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$0,K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12-month change</c:v>
          </c:tx>
          <c:spPr>
            <a:ln xmlns:a="http://schemas.openxmlformats.org/drawingml/2006/main" w="28575">
              <a:solidFill>
                <a:srgbClr val="E07A5F"/>
              </a:solidFill>
              <a:prstDash val="solid"/>
            </a:ln>
          </c:spPr>
          <c:marker>
            <c:symbol val="none"/>
          </c:marker>
          <c:cat>
            <c:strLit>
              <c:ptCount val="101"/>
              <c:pt idx="0">
                <c:v>2001 Q1</c:v>
              </c:pt>
              <c:pt idx="1">
                <c:v>2001 Q2</c:v>
              </c:pt>
              <c:pt idx="2">
                <c:v>2001 Q3</c:v>
              </c:pt>
              <c:pt idx="3">
                <c:v>2001 Q4</c:v>
              </c:pt>
              <c:pt idx="4">
                <c:v>2002 Q1</c:v>
              </c:pt>
              <c:pt idx="5">
                <c:v>2002 Q2</c:v>
              </c:pt>
              <c:pt idx="6">
                <c:v>2002 Q3</c:v>
              </c:pt>
              <c:pt idx="7">
                <c:v>2002 Q4</c:v>
              </c:pt>
              <c:pt idx="8">
                <c:v>2003 Q1</c:v>
              </c:pt>
              <c:pt idx="9">
                <c:v>2003 Q2</c:v>
              </c:pt>
              <c:pt idx="10">
                <c:v>2003 Q3</c:v>
              </c:pt>
              <c:pt idx="11">
                <c:v>2003 Q4</c:v>
              </c:pt>
              <c:pt idx="12">
                <c:v>2004 Q1</c:v>
              </c:pt>
              <c:pt idx="13">
                <c:v>2004 Q2</c:v>
              </c:pt>
              <c:pt idx="14">
                <c:v>2004 Q3</c:v>
              </c:pt>
              <c:pt idx="15">
                <c:v>2004 Q4</c:v>
              </c:pt>
              <c:pt idx="16">
                <c:v>2005 Q1</c:v>
              </c:pt>
              <c:pt idx="17">
                <c:v>2005 Q2</c:v>
              </c:pt>
              <c:pt idx="18">
                <c:v>2005 Q3</c:v>
              </c:pt>
              <c:pt idx="19">
                <c:v>2005 Q4</c:v>
              </c:pt>
              <c:pt idx="20">
                <c:v>2006 Q1</c:v>
              </c:pt>
              <c:pt idx="21">
                <c:v>2006 Q2</c:v>
              </c:pt>
              <c:pt idx="22">
                <c:v>2006 Q3</c:v>
              </c:pt>
              <c:pt idx="23">
                <c:v>2006 Q4</c:v>
              </c:pt>
              <c:pt idx="24">
                <c:v>2007 Q1</c:v>
              </c:pt>
              <c:pt idx="25">
                <c:v>2007 Q2</c:v>
              </c:pt>
              <c:pt idx="26">
                <c:v>2007 Q3</c:v>
              </c:pt>
              <c:pt idx="27">
                <c:v>2007 Q4</c:v>
              </c:pt>
              <c:pt idx="28">
                <c:v>2008 Q1</c:v>
              </c:pt>
              <c:pt idx="29">
                <c:v>2008 Q2</c:v>
              </c:pt>
              <c:pt idx="30">
                <c:v>2008 Q3</c:v>
              </c:pt>
              <c:pt idx="31">
                <c:v>2008 Q4</c:v>
              </c:pt>
              <c:pt idx="32">
                <c:v>2009 Q1</c:v>
              </c:pt>
              <c:pt idx="33">
                <c:v>2009 Q2</c:v>
              </c:pt>
              <c:pt idx="34">
                <c:v>2009 Q3</c:v>
              </c:pt>
              <c:pt idx="35">
                <c:v>2009 Q4</c:v>
              </c:pt>
              <c:pt idx="36">
                <c:v>2010 Q1</c:v>
              </c:pt>
              <c:pt idx="37">
                <c:v>2010 Q2</c:v>
              </c:pt>
              <c:pt idx="38">
                <c:v>2010 Q3</c:v>
              </c:pt>
              <c:pt idx="39">
                <c:v>2010 Q4</c:v>
              </c:pt>
              <c:pt idx="40">
                <c:v>2011 Q1</c:v>
              </c:pt>
              <c:pt idx="41">
                <c:v>2011 Q2</c:v>
              </c:pt>
              <c:pt idx="42">
                <c:v>2011 Q3</c:v>
              </c:pt>
              <c:pt idx="43">
                <c:v>2011 Q4</c:v>
              </c:pt>
              <c:pt idx="44">
                <c:v>2012 Q1</c:v>
              </c:pt>
              <c:pt idx="45">
                <c:v>2012 Q2</c:v>
              </c:pt>
              <c:pt idx="46">
                <c:v>2012 Q3</c:v>
              </c:pt>
              <c:pt idx="47">
                <c:v>2012 Q4</c:v>
              </c:pt>
              <c:pt idx="48">
                <c:v>2013 Q1</c:v>
              </c:pt>
              <c:pt idx="49">
                <c:v>2013 Q2</c:v>
              </c:pt>
              <c:pt idx="50">
                <c:v>2013 Q3</c:v>
              </c:pt>
              <c:pt idx="51">
                <c:v>2013 Q4</c:v>
              </c:pt>
              <c:pt idx="52">
                <c:v>2014 Q1</c:v>
              </c:pt>
              <c:pt idx="53">
                <c:v>2014 Q2</c:v>
              </c:pt>
              <c:pt idx="54">
                <c:v>2014 Q3</c:v>
              </c:pt>
              <c:pt idx="55">
                <c:v>2014 Q4</c:v>
              </c:pt>
              <c:pt idx="56">
                <c:v>2015 Q1</c:v>
              </c:pt>
              <c:pt idx="57">
                <c:v>2015 Q2</c:v>
              </c:pt>
              <c:pt idx="58">
                <c:v>2015 Q3</c:v>
              </c:pt>
              <c:pt idx="59">
                <c:v>2015 Q4</c:v>
              </c:pt>
              <c:pt idx="60">
                <c:v>2016 Q1</c:v>
              </c:pt>
              <c:pt idx="61">
                <c:v>2016 Q2</c:v>
              </c:pt>
              <c:pt idx="62">
                <c:v>2016 Q3</c:v>
              </c:pt>
              <c:pt idx="63">
                <c:v>2016 Q4</c:v>
              </c:pt>
              <c:pt idx="64">
                <c:v>2017 Q1</c:v>
              </c:pt>
              <c:pt idx="65">
                <c:v>2017 Q2</c:v>
              </c:pt>
              <c:pt idx="66">
                <c:v>2017 Q3</c:v>
              </c:pt>
              <c:pt idx="67">
                <c:v>2017 Q4</c:v>
              </c:pt>
              <c:pt idx="68">
                <c:v>2018 Q1</c:v>
              </c:pt>
              <c:pt idx="69">
                <c:v>2018 Q2</c:v>
              </c:pt>
              <c:pt idx="70">
                <c:v>2018 Q3</c:v>
              </c:pt>
              <c:pt idx="71">
                <c:v>2018 Q4</c:v>
              </c:pt>
              <c:pt idx="72">
                <c:v>2019 Q1</c:v>
              </c:pt>
              <c:pt idx="73">
                <c:v>2019 Q2</c:v>
              </c:pt>
              <c:pt idx="74">
                <c:v>2019 Q3</c:v>
              </c:pt>
              <c:pt idx="75">
                <c:v>2019 Q4</c:v>
              </c:pt>
              <c:pt idx="76">
                <c:v>2020 Q1</c:v>
              </c:pt>
              <c:pt idx="77">
                <c:v>2020 Q2</c:v>
              </c:pt>
              <c:pt idx="78">
                <c:v>2020 Q3</c:v>
              </c:pt>
              <c:pt idx="79">
                <c:v>2020 Q4</c:v>
              </c:pt>
              <c:pt idx="80">
                <c:v>2021 Q1</c:v>
              </c:pt>
              <c:pt idx="81">
                <c:v>2021 Q2</c:v>
              </c:pt>
              <c:pt idx="82">
                <c:v>2021 Q3</c:v>
              </c:pt>
              <c:pt idx="83">
                <c:v>2021 Q4</c:v>
              </c:pt>
              <c:pt idx="84">
                <c:v>2022 Q1</c:v>
              </c:pt>
              <c:pt idx="85">
                <c:v>2022 Q2</c:v>
              </c:pt>
              <c:pt idx="86">
                <c:v>2022 Q3</c:v>
              </c:pt>
              <c:pt idx="87">
                <c:v>2022 Q4</c:v>
              </c:pt>
              <c:pt idx="88">
                <c:v>2023 Q1</c:v>
              </c:pt>
              <c:pt idx="89">
                <c:v>2023 Q2</c:v>
              </c:pt>
              <c:pt idx="90">
                <c:v>2023 Q3</c:v>
              </c:pt>
              <c:pt idx="91">
                <c:v>2023 Q4</c:v>
              </c:pt>
              <c:pt idx="92">
                <c:v>2024 Q1</c:v>
              </c:pt>
              <c:pt idx="93">
                <c:v>2024 Q2</c:v>
              </c:pt>
              <c:pt idx="94">
                <c:v>2024 Q3</c:v>
              </c:pt>
              <c:pt idx="95">
                <c:v>2024 Q4</c:v>
              </c:pt>
              <c:pt idx="96">
                <c:v>2025 Q1</c:v>
              </c:pt>
              <c:pt idx="97">
                <c:v>2025 Q2</c:v>
              </c:pt>
              <c:pt idx="98">
                <c:v>2025 Q3</c:v>
              </c:pt>
              <c:pt idx="99">
                <c:v>2025 Q4</c:v>
              </c:pt>
              <c:pt idx="100">
                <c:v>2026 Q1</c:v>
              </c:pt>
            </c:strLit>
          </c:cat>
          <c:val>
            <c:numLit>
              <c:formatCode>0%</c:formatCode>
              <c:ptCount val="101"/>
              <c:pt idx="0">
                <c:v>0.0659114953135489</c:v>
              </c:pt>
              <c:pt idx="1">
                <c:v>0.07532816686293553</c:v>
              </c:pt>
              <c:pt idx="2">
                <c:v>0.08278384487777934</c:v>
              </c:pt>
              <c:pt idx="3">
                <c:v>0.09282222001233942</c:v>
              </c:pt>
              <c:pt idx="4">
                <c:v>0.0993724720969662</c:v>
              </c:pt>
              <c:pt idx="5">
                <c:v>0.10186428054555939</c:v>
              </c:pt>
              <c:pt idx="6">
                <c:v>0.10305081488327117</c:v>
              </c:pt>
              <c:pt idx="7">
                <c:v>0.10257457442467777</c:v>
              </c:pt>
              <c:pt idx="8">
                <c:v>0.10398706832097669</c:v>
              </c:pt>
              <c:pt idx="9">
                <c:v>0.11135001294310864</c:v>
              </c:pt>
              <c:pt idx="10">
                <c:v>0.11735393568753949</c:v>
              </c:pt>
              <c:pt idx="11">
                <c:v>0.12206296169308262</c:v>
              </c:pt>
              <c:pt idx="12">
                <c:v>0.12537519518257967</c:v>
              </c:pt>
              <c:pt idx="13">
                <c:v>0.12740418504206463</c:v>
              </c:pt>
              <c:pt idx="14">
                <c:v>0.1407671418120675</c:v>
              </c:pt>
              <c:pt idx="15">
                <c:v>0.16210994122373168</c:v>
              </c:pt>
              <c:pt idx="16">
                <c:v>0.18020720242175403</c:v>
              </c:pt>
              <c:pt idx="17">
                <c:v>0.20815108950066108</c:v>
              </c:pt>
              <c:pt idx="18">
                <c:v>0.24100104006610443</c:v>
              </c:pt>
              <c:pt idx="19">
                <c:v>0.2650717470973163</c:v>
              </c:pt>
              <c:pt idx="20">
                <c:v>0.2754839418895405</c:v>
              </c:pt>
              <c:pt idx="21">
                <c:v>0.26630875611526705</c:v>
              </c:pt>
              <c:pt idx="22">
                <c:v>0.22591613559335033</c:v>
              </c:pt>
              <c:pt idx="23">
                <c:v>0.1535885291806185</c:v>
              </c:pt>
              <c:pt idx="24">
                <c:v>0.08555226797600678</c:v>
              </c:pt>
              <c:pt idx="25">
                <c:v>0.02208857188046265</c:v>
              </c:pt>
              <c:pt idx="26">
                <c:v>-0.04162134073127987</c:v>
              </c:pt>
              <c:pt idx="27">
                <c:v>-0.08533049770126834</c:v>
              </c:pt>
              <c:pt idx="28">
                <c:v>-0.1182304899828498</c:v>
              </c:pt>
              <c:pt idx="29">
                <c:v>-0.1499946191358087</c:v>
              </c:pt>
              <c:pt idx="30">
                <c:v>-0.17513577286302662</c:v>
              </c:pt>
              <c:pt idx="31">
                <c:v>-0.19646517976105327</c:v>
              </c:pt>
              <c:pt idx="32">
                <c:v>-0.2130462464872912</c:v>
              </c:pt>
              <c:pt idx="33">
                <c:v>-0.21708268747411685</c:v>
              </c:pt>
              <c:pt idx="34">
                <c:v>-0.21247125262571653</c:v>
              </c:pt>
              <c:pt idx="35">
                <c:v>-0.19213553086817625</c:v>
              </c:pt>
              <c:pt idx="36">
                <c:v>-0.15283902802648452</c:v>
              </c:pt>
              <c:pt idx="37">
                <c:v>-0.11196164990579716</c:v>
              </c:pt>
              <c:pt idx="38">
                <c:v>-0.07823866701638893</c:v>
              </c:pt>
              <c:pt idx="39">
                <c:v>-0.06673819765284306</c:v>
              </c:pt>
              <c:pt idx="40">
                <c:v>-0.07663373025951603</c:v>
              </c:pt>
              <c:pt idx="41">
                <c:v>-0.09374306206314253</c:v>
              </c:pt>
              <c:pt idx="42">
                <c:v>-0.10386796876436467</c:v>
              </c:pt>
              <c:pt idx="43">
                <c:v>-0.0917705453620753</c:v>
              </c:pt>
              <c:pt idx="44">
                <c:v>-0.06676362841210493</c:v>
              </c:pt>
              <c:pt idx="45">
                <c:v>-0.03534459541165347</c:v>
              </c:pt>
              <c:pt idx="46">
                <c:v>0.0030361517395580684</c:v>
              </c:pt>
              <c:pt idx="47">
                <c:v>0.03167579529135489</c:v>
              </c:pt>
              <c:pt idx="48">
                <c:v>0.06512083729511198</c:v>
              </c:pt>
              <c:pt idx="49">
                <c:v>0.09849060344712601</c:v>
              </c:pt>
              <c:pt idx="50">
                <c:v>0.12727301293989113</c:v>
              </c:pt>
              <c:pt idx="51">
                <c:v>0.15046999056492782</c:v>
              </c:pt>
              <c:pt idx="52">
                <c:v>0.15090786327103456</c:v>
              </c:pt>
              <c:pt idx="53">
                <c:v>0.1424510837327011</c:v>
              </c:pt>
              <c:pt idx="54">
                <c:v>0.12333013043155505</c:v>
              </c:pt>
              <c:pt idx="55">
                <c:v>0.10375468721220749</c:v>
              </c:pt>
              <c:pt idx="56">
                <c:v>0.09446809144648839</c:v>
              </c:pt>
              <c:pt idx="57">
                <c:v>0.08441946147015876</c:v>
              </c:pt>
              <c:pt idx="58">
                <c:v>0.0842085227061955</c:v>
              </c:pt>
              <c:pt idx="59">
                <c:v>0.09478190243700425</c:v>
              </c:pt>
              <c:pt idx="60">
                <c:v>0.09787535005915181</c:v>
              </c:pt>
              <c:pt idx="61">
                <c:v>0.09896763042039748</c:v>
              </c:pt>
              <c:pt idx="62">
                <c:v>0.09676566577694379</c:v>
              </c:pt>
              <c:pt idx="63">
                <c:v>0.09077153231892264</c:v>
              </c:pt>
              <c:pt idx="64">
                <c:v>0.08358709062760529</c:v>
              </c:pt>
              <c:pt idx="65">
                <c:v>0.08243271819550803</c:v>
              </c:pt>
              <c:pt idx="66">
                <c:v>0.08047012730607284</c:v>
              </c:pt>
              <c:pt idx="67">
                <c:v>0.07869213823829213</c:v>
              </c:pt>
              <c:pt idx="68">
                <c:v>0.08119567564970742</c:v>
              </c:pt>
              <c:pt idx="69">
                <c:v>0.07820594835195771</c:v>
              </c:pt>
              <c:pt idx="70">
                <c:v>0.0763240488470156</c:v>
              </c:pt>
              <c:pt idx="71">
                <c:v>0.07314056909235545</c:v>
              </c:pt>
              <c:pt idx="72">
                <c:v>0.06801737079298498</c:v>
              </c:pt>
              <c:pt idx="73">
                <c:v>0.060581179835264676</c:v>
              </c:pt>
              <c:pt idx="74">
                <c:v>0.04843958218933575</c:v>
              </c:pt>
              <c:pt idx="75">
                <c:v>0.04102366535615354</c:v>
              </c:pt>
              <c:pt idx="76">
                <c:v>0.044902333673591865</c:v>
              </c:pt>
              <c:pt idx="77">
                <c:v>0.05306462202279505</c:v>
              </c:pt>
              <c:pt idx="78">
                <c:v>0.051819489146647024</c:v>
              </c:pt>
              <c:pt idx="79">
                <c:v>0.07071815508525736</c:v>
              </c:pt>
              <c:pt idx="80">
                <c:v>0.09276431248850268</c:v>
              </c:pt>
              <c:pt idx="81">
                <c:v>0.12023199102335802</c:v>
              </c:pt>
              <c:pt idx="82">
                <c:v>0.18685170133135998</c:v>
              </c:pt>
              <c:pt idx="83">
                <c:v>0.21227930970504125</c:v>
              </c:pt>
              <c:pt idx="84">
                <c:v>0.2301163699052513</c:v>
              </c:pt>
              <c:pt idx="85">
                <c:v>0.27742807532166647</c:v>
              </c:pt>
              <c:pt idx="86">
                <c:v>0.28111191663140667</c:v>
              </c:pt>
              <c:pt idx="87">
                <c:v>0.22914239806443604</c:v>
              </c:pt>
              <c:pt idx="88">
                <c:v>0.15529135421051943</c:v>
              </c:pt>
              <c:pt idx="89">
                <c:v>0.0632641640570224</c:v>
              </c:pt>
              <c:pt idx="90">
                <c:v>0.008345277554232311</c:v>
              </c:pt>
              <c:pt idx="91">
                <c:v>0.01105741737857402</c:v>
              </c:pt>
              <c:pt idx="92">
                <c:v>0.02505717434600463</c:v>
              </c:pt>
              <c:pt idx="93">
                <c:v>0.034055417593646276</c:v>
              </c:pt>
              <c:pt idx="94">
                <c:v>0.01786196385808947</c:v>
              </c:pt>
              <c:pt idx="95">
                <c:v>0.0005148650198063542</c:v>
              </c:pt>
              <c:pt idx="96">
                <c:v>-0.013936881792393274</c:v>
              </c:pt>
              <c:pt idx="97">
                <c:v>-0.0319911679267153</c:v>
              </c:pt>
              <c:pt idx="98">
                <c:v>-0.04751054054584768</c:v>
              </c:pt>
              <c:pt idx="99">
                <c:v>-0.05434525128966216</c:v>
              </c:pt>
              <c:pt idx="100">
                <c:v>-0.049134146007620005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CV MAE</c:v>
          </c:tx>
          <c:spPr>
            <a:solidFill xmlns:a="http://schemas.openxmlformats.org/drawingml/2006/main">
              <a:srgbClr val="D8DEE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6E6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B2B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AB2B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AAB2B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AB2B8"/>
              </a:solidFill>
            </c:spPr>
          </c:dPt>
          <c:cat>
            <c:strLit>
              <c:ptCount val="5"/>
              <c:pt idx="0">
                <c:v>Ridge</c:v>
              </c:pt>
              <c:pt idx="1">
                <c:v>Persistence</c:v>
              </c:pt>
              <c:pt idx="2">
                <c:v>Linear</c:v>
              </c:pt>
              <c:pt idx="3">
                <c:v>Gradient boosting</c:v>
              </c:pt>
              <c:pt idx="4">
                <c:v>Random forest</c:v>
              </c:pt>
            </c:strLit>
          </c:cat>
          <c:val>
            <c:numLit>
              <c:formatCode>General</c:formatCode>
              <c:ptCount val="5"/>
              <c:pt idx="0">
                <c:v>1291.534</c:v>
              </c:pt>
              <c:pt idx="1">
                <c:v>1811.764</c:v>
              </c:pt>
              <c:pt idx="2">
                <c:v>2680.077</c:v>
              </c:pt>
              <c:pt idx="3">
                <c:v>17432.805</c:v>
              </c:pt>
              <c:pt idx="4">
                <c:v>17944.344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B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Actual</c:v>
          </c:tx>
          <c:spPr>
            <a:ln xmlns:a="http://schemas.openxmlformats.org/drawingml/2006/main" w="38100">
              <a:solidFill>
                <a:srgbClr val="202B33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270971.1322747543</c:v>
              </c:pt>
              <c:pt idx="1">
                <c:v>282667.65689461323</c:v>
              </c:pt>
              <c:pt idx="2">
                <c:v>300629.52578307706</c:v>
              </c:pt>
              <c:pt idx="3">
                <c:v>315652.50358126895</c:v>
              </c:pt>
              <c:pt idx="4">
                <c:v>333326.0255829364</c:v>
              </c:pt>
              <c:pt idx="5">
                <c:v>361087.60090257094</c:v>
              </c:pt>
              <c:pt idx="6">
                <c:v>385140.0679719488</c:v>
              </c:pt>
              <c:pt idx="7">
                <c:v>387981.87520692387</c:v>
              </c:pt>
              <c:pt idx="8">
                <c:v>385088.6754893208</c:v>
              </c:pt>
              <c:pt idx="9">
                <c:v>383931.50612502784</c:v>
              </c:pt>
              <c:pt idx="10">
                <c:v>388354.1687364306</c:v>
              </c:pt>
              <c:pt idx="11">
                <c:v>392271.9527364086</c:v>
              </c:pt>
              <c:pt idx="12">
                <c:v>394737.9095697287</c:v>
              </c:pt>
              <c:pt idx="13">
                <c:v>397006.4538934732</c:v>
              </c:pt>
              <c:pt idx="14">
                <c:v>395290.9368625391</c:v>
              </c:pt>
              <c:pt idx="15">
                <c:v>392473.91984312376</c:v>
              </c:pt>
              <c:pt idx="16">
                <c:v>389236.493985079</c:v>
              </c:pt>
              <c:pt idx="17">
                <c:v>384305.75375897734</c:v>
              </c:pt>
              <c:pt idx="18">
                <c:v>376510.4507793253</c:v>
              </c:pt>
              <c:pt idx="19">
                <c:v>371144.82604461047</c:v>
              </c:pt>
              <c:pt idx="20">
                <c:v>370111.6912581221</c:v>
              </c:pt>
            </c:numLit>
          </c:val>
        </c:ser>
        <c:ser>
          <c:idx val="1"/>
          <c:order val="1"/>
          <c:tx>
            <c:v>Ridge</c:v>
          </c:tx>
          <c:spPr>
            <a:ln xmlns:a="http://schemas.openxmlformats.org/drawingml/2006/main" w="28575">
              <a:solidFill>
                <a:srgbClr val="0B6E69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270811.60927205504</c:v>
              </c:pt>
              <c:pt idx="1">
                <c:v>282061.5970081068</c:v>
              </c:pt>
              <c:pt idx="2">
                <c:v>299527.7017274259</c:v>
              </c:pt>
              <c:pt idx="3">
                <c:v>316136.9031281141</c:v>
              </c:pt>
              <c:pt idx="4">
                <c:v>331242.39653744036</c:v>
              </c:pt>
              <c:pt idx="5">
                <c:v>359109.56634511624</c:v>
              </c:pt>
              <c:pt idx="6">
                <c:v>388067.71234866744</c:v>
              </c:pt>
              <c:pt idx="7">
                <c:v>389926.0177902571</c:v>
              </c:pt>
              <c:pt idx="8">
                <c:v>384705.831478481</c:v>
              </c:pt>
              <c:pt idx="9">
                <c:v>381924.8482568974</c:v>
              </c:pt>
              <c:pt idx="10">
                <c:v>387787.80408598133</c:v>
              </c:pt>
              <c:pt idx="11">
                <c:v>392743.7296527506</c:v>
              </c:pt>
              <c:pt idx="12">
                <c:v>394865.5225831021</c:v>
              </c:pt>
              <c:pt idx="13">
                <c:v>396889.7192758821</c:v>
              </c:pt>
              <c:pt idx="14">
                <c:v>395930.0297691142</c:v>
              </c:pt>
              <c:pt idx="15">
                <c:v>392278.19162931375</c:v>
              </c:pt>
              <c:pt idx="16">
                <c:v>388858.4703105226</c:v>
              </c:pt>
              <c:pt idx="17">
                <c:v>384989.8522728059</c:v>
              </c:pt>
              <c:pt idx="18">
                <c:v>376625.3814828043</c:v>
              </c:pt>
              <c:pt idx="19">
                <c:v>369952.9771981459</c:v>
              </c:pt>
              <c:pt idx="20">
                <c:v>369554.12095091847</c:v>
              </c:pt>
            </c:numLit>
          </c:val>
        </c:ser>
        <c:ser>
          <c:idx val="2"/>
          <c:order val="2"/>
          <c:tx>
            <c:v>Persistence</c:v>
          </c:tx>
          <c:spPr>
            <a:ln xmlns:a="http://schemas.openxmlformats.org/drawingml/2006/main" w="19050">
              <a:solidFill>
                <a:srgbClr val="E07A5F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267366.42000501393</c:v>
              </c:pt>
              <c:pt idx="1">
                <c:v>278400.03870823426</c:v>
              </c:pt>
              <c:pt idx="2">
                <c:v>294154.81700729654</c:v>
              </c:pt>
              <c:pt idx="3">
                <c:v>311057.0675119927</c:v>
              </c:pt>
              <c:pt idx="4">
                <c:v>326350.1909692403</c:v>
              </c:pt>
              <c:pt idx="5">
                <c:v>351016.64935856155</c:v>
              </c:pt>
              <c:pt idx="6">
                <c:v>379318.8744352935</c:v>
              </c:pt>
              <c:pt idx="7">
                <c:v>388463.298271227</c:v>
              </c:pt>
              <c:pt idx="8">
                <c:v>386433.051545017</c:v>
              </c:pt>
              <c:pt idx="9">
                <c:v>383487.28323685005</c:v>
              </c:pt>
              <c:pt idx="10">
                <c:v>386654.19108457066</c:v>
              </c:pt>
              <c:pt idx="11">
                <c:v>391210.41274556547</c:v>
              </c:pt>
              <c:pt idx="12">
                <c:v>394033.36021017417</c:v>
              </c:pt>
              <c:pt idx="13">
                <c:v>396327.2841423637</c:v>
              </c:pt>
              <c:pt idx="14">
                <c:v>396345.9359580394</c:v>
              </c:pt>
              <c:pt idx="15">
                <c:v>393421.40184717515</c:v>
              </c:pt>
              <c:pt idx="16">
                <c:v>390180.2528411346</c:v>
              </c:pt>
              <c:pt idx="17">
                <c:v>386465.2271290822</c:v>
              </c:pt>
              <c:pt idx="18">
                <c:v>379263.4604077681</c:v>
              </c:pt>
              <c:pt idx="19">
                <c:v>372285.9598005145</c:v>
              </c:pt>
              <c:pt idx="20">
                <c:v>370116.5118431126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$0,K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02B33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Actual minus predicted</c:v>
          </c:tx>
          <c:spPr>
            <a:ln xmlns:a="http://schemas.openxmlformats.org/drawingml/2006/main" w="28575">
              <a:solidFill>
                <a:srgbClr val="0B6E69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$#,##0</c:formatCode>
              <c:ptCount val="21"/>
              <c:pt idx="0">
                <c:v>159.52300269925036</c:v>
              </c:pt>
              <c:pt idx="1">
                <c:v>606.0598865064094</c:v>
              </c:pt>
              <c:pt idx="2">
                <c:v>1101.8240556511446</c:v>
              </c:pt>
              <c:pt idx="3">
                <c:v>-484.3995468451758</c:v>
              </c:pt>
              <c:pt idx="4">
                <c:v>2083.6290454960545</c:v>
              </c:pt>
              <c:pt idx="5">
                <c:v>1978.0345574546955</c:v>
              </c:pt>
              <c:pt idx="6">
                <c:v>-2927.644376718614</c:v>
              </c:pt>
              <c:pt idx="7">
                <c:v>-1944.1425833332469</c:v>
              </c:pt>
              <c:pt idx="8">
                <c:v>382.84401083982084</c:v>
              </c:pt>
              <c:pt idx="9">
                <c:v>2006.6578681304236</c:v>
              </c:pt>
              <c:pt idx="10">
                <c:v>566.3646504492499</c:v>
              </c:pt>
              <c:pt idx="11">
                <c:v>-471.77691634197254</c:v>
              </c:pt>
              <c:pt idx="12">
                <c:v>-127.61301337339683</c:v>
              </c:pt>
              <c:pt idx="13">
                <c:v>116.73461759107886</c:v>
              </c:pt>
              <c:pt idx="14">
                <c:v>-639.0929065751261</c:v>
              </c:pt>
              <c:pt idx="15">
                <c:v>195.72821381001268</c:v>
              </c:pt>
              <c:pt idx="16">
                <c:v>378.0236745564034</c:v>
              </c:pt>
              <c:pt idx="17">
                <c:v>-684.0985138285323</c:v>
              </c:pt>
              <c:pt idx="18">
                <c:v>-114.93070347898174</c:v>
              </c:pt>
              <c:pt idx="19">
                <c:v>1191.8488464645925</c:v>
              </c:pt>
              <c:pt idx="20">
                <c:v>557.5703072036267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Actual</c:v>
          </c:tx>
          <c:spPr>
            <a:ln xmlns:a="http://schemas.openxmlformats.org/drawingml/2006/main" w="38100">
              <a:solidFill>
                <a:srgbClr val="202B33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270971.1322747543</c:v>
              </c:pt>
              <c:pt idx="1">
                <c:v>282667.65689461323</c:v>
              </c:pt>
              <c:pt idx="2">
                <c:v>300629.52578307706</c:v>
              </c:pt>
              <c:pt idx="3">
                <c:v>315652.50358126895</c:v>
              </c:pt>
              <c:pt idx="4">
                <c:v>333326.0255829364</c:v>
              </c:pt>
              <c:pt idx="5">
                <c:v>361087.60090257094</c:v>
              </c:pt>
              <c:pt idx="6">
                <c:v>385140.0679719488</c:v>
              </c:pt>
              <c:pt idx="7">
                <c:v>387981.87520692387</c:v>
              </c:pt>
              <c:pt idx="8">
                <c:v>385088.6754893208</c:v>
              </c:pt>
              <c:pt idx="9">
                <c:v>383931.50612502784</c:v>
              </c:pt>
              <c:pt idx="10">
                <c:v>388354.1687364306</c:v>
              </c:pt>
              <c:pt idx="11">
                <c:v>392271.9527364086</c:v>
              </c:pt>
              <c:pt idx="12">
                <c:v>394737.9095697287</c:v>
              </c:pt>
              <c:pt idx="13">
                <c:v>397006.4538934732</c:v>
              </c:pt>
              <c:pt idx="14">
                <c:v>395290.9368625391</c:v>
              </c:pt>
              <c:pt idx="15">
                <c:v>392473.91984312376</c:v>
              </c:pt>
              <c:pt idx="16">
                <c:v>389236.493985079</c:v>
              </c:pt>
              <c:pt idx="17">
                <c:v>384305.75375897734</c:v>
              </c:pt>
              <c:pt idx="18">
                <c:v>376510.4507793253</c:v>
              </c:pt>
              <c:pt idx="19">
                <c:v>371144.82604461047</c:v>
              </c:pt>
              <c:pt idx="20">
                <c:v>370111.6912581221</c:v>
              </c:pt>
            </c:numLit>
          </c:val>
        </c:ser>
        <c:ser>
          <c:idx val="1"/>
          <c:order val="1"/>
          <c:tx>
            <c:v>Random forest</c:v>
          </c:tx>
          <c:spPr>
            <a:ln xmlns:a="http://schemas.openxmlformats.org/drawingml/2006/main" w="23813">
              <a:solidFill>
                <a:srgbClr val="0B6E69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265142.6116001076</c:v>
              </c:pt>
              <c:pt idx="1">
                <c:v>264887.2592374384</c:v>
              </c:pt>
              <c:pt idx="2">
                <c:v>264879.4445120378</c:v>
              </c:pt>
              <c:pt idx="3">
                <c:v>264889.9661518536</c:v>
              </c:pt>
              <c:pt idx="4">
                <c:v>265142.6116001076</c:v>
              </c:pt>
              <c:pt idx="5">
                <c:v>264887.2592374384</c:v>
              </c:pt>
              <c:pt idx="6">
                <c:v>264879.4445120378</c:v>
              </c:pt>
              <c:pt idx="7">
                <c:v>264889.9661518536</c:v>
              </c:pt>
              <c:pt idx="8">
                <c:v>264672.06042049435</c:v>
              </c:pt>
              <c:pt idx="9">
                <c:v>264426.6566210575</c:v>
              </c:pt>
              <c:pt idx="10">
                <c:v>264432.7560628245</c:v>
              </c:pt>
              <c:pt idx="11">
                <c:v>264618.0671926066</c:v>
              </c:pt>
              <c:pt idx="12">
                <c:v>264682.0089837267</c:v>
              </c:pt>
              <c:pt idx="13">
                <c:v>264416.70805782516</c:v>
              </c:pt>
              <c:pt idx="14">
                <c:v>264432.7560628245</c:v>
              </c:pt>
              <c:pt idx="15">
                <c:v>264444.2122181526</c:v>
              </c:pt>
              <c:pt idx="16">
                <c:v>264682.0089837267</c:v>
              </c:pt>
              <c:pt idx="17">
                <c:v>264426.6566210575</c:v>
              </c:pt>
              <c:pt idx="18">
                <c:v>264910.03405041655</c:v>
              </c:pt>
              <c:pt idx="19">
                <c:v>264895.38563954824</c:v>
              </c:pt>
              <c:pt idx="20">
                <c:v>264667.14855881344</c:v>
              </c:pt>
            </c:numLit>
          </c:val>
        </c:ser>
        <c:ser>
          <c:idx val="2"/>
          <c:order val="2"/>
          <c:tx>
            <c:v>Gradient boosting</c:v>
          </c:tx>
          <c:spPr>
            <a:ln xmlns:a="http://schemas.openxmlformats.org/drawingml/2006/main" w="23813">
              <a:solidFill>
                <a:srgbClr val="E07A5F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2021 Q1</c:v>
              </c:pt>
              <c:pt idx="1">
                <c:v>2021 Q2</c:v>
              </c:pt>
              <c:pt idx="2">
                <c:v>2021 Q3</c:v>
              </c:pt>
              <c:pt idx="3">
                <c:v>2021 Q4</c:v>
              </c:pt>
              <c:pt idx="4">
                <c:v>2022 Q1</c:v>
              </c:pt>
              <c:pt idx="5">
                <c:v>2022 Q2</c:v>
              </c:pt>
              <c:pt idx="6">
                <c:v>2022 Q3</c:v>
              </c:pt>
              <c:pt idx="7">
                <c:v>2022 Q4</c:v>
              </c:pt>
              <c:pt idx="8">
                <c:v>2023 Q1</c:v>
              </c:pt>
              <c:pt idx="9">
                <c:v>2023 Q2</c:v>
              </c:pt>
              <c:pt idx="10">
                <c:v>2023 Q3</c:v>
              </c:pt>
              <c:pt idx="11">
                <c:v>2023 Q4</c:v>
              </c:pt>
              <c:pt idx="12">
                <c:v>2024 Q1</c:v>
              </c:pt>
              <c:pt idx="13">
                <c:v>2024 Q2</c:v>
              </c:pt>
              <c:pt idx="14">
                <c:v>2024 Q3</c:v>
              </c:pt>
              <c:pt idx="15">
                <c:v>2024 Q4</c:v>
              </c:pt>
              <c:pt idx="16">
                <c:v>2025 Q1</c:v>
              </c:pt>
              <c:pt idx="17">
                <c:v>2025 Q2</c:v>
              </c:pt>
              <c:pt idx="18">
                <c:v>2025 Q3</c:v>
              </c:pt>
              <c:pt idx="19">
                <c:v>2025 Q4</c:v>
              </c:pt>
              <c:pt idx="20">
                <c:v>2026 Q1</c:v>
              </c:pt>
            </c:strLit>
          </c:cat>
          <c:val>
            <c:numLit>
              <c:formatCode>$0,K</c:formatCode>
              <c:ptCount val="21"/>
              <c:pt idx="0">
                <c:v>264411.91665443196</c:v>
              </c:pt>
              <c:pt idx="1">
                <c:v>264006.4778848582</c:v>
              </c:pt>
              <c:pt idx="2">
                <c:v>263802.4314387698</c:v>
              </c:pt>
              <c:pt idx="3">
                <c:v>263478.9261380613</c:v>
              </c:pt>
              <c:pt idx="4">
                <c:v>263440.7773689988</c:v>
              </c:pt>
              <c:pt idx="5">
                <c:v>263575.6433005854</c:v>
              </c:pt>
              <c:pt idx="6">
                <c:v>263547.35479185515</c:v>
              </c:pt>
              <c:pt idx="7">
                <c:v>263478.9261380613</c:v>
              </c:pt>
              <c:pt idx="8">
                <c:v>263627.36316744395</c:v>
              </c:pt>
              <c:pt idx="9">
                <c:v>263474.3552285332</c:v>
              </c:pt>
              <c:pt idx="10">
                <c:v>263723.01406395185</c:v>
              </c:pt>
              <c:pt idx="11">
                <c:v>263422.30362199945</c:v>
              </c:pt>
              <c:pt idx="12">
                <c:v>263476.45578199835</c:v>
              </c:pt>
              <c:pt idx="13">
                <c:v>263474.3552285332</c:v>
              </c:pt>
              <c:pt idx="14">
                <c:v>263758.8662563329</c:v>
              </c:pt>
              <c:pt idx="15">
                <c:v>263523.477680536</c:v>
              </c:pt>
              <c:pt idx="16">
                <c:v>263476.45578199835</c:v>
              </c:pt>
              <c:pt idx="17">
                <c:v>263462.5899556736</c:v>
              </c:pt>
              <c:pt idx="18">
                <c:v>263588.4574148288</c:v>
              </c:pt>
              <c:pt idx="19">
                <c:v>263578.1011482965</c:v>
              </c:pt>
              <c:pt idx="20">
                <c:v>263419.404705017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3"/>
              </a:solidFill>
              <a:prstDash val="solid"/>
            </a:ln>
          </c:spPr>
        </c:majorGridlines>
        <c:numFmt formatCode="$0,K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02B33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3B2F3-80CC-450D-B53F-6FFE031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Forecasting Florida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1B5E-B26D-40DD-9027-6D1A9BF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C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8ECEA"/>
                </a:solidFill>
                <a:latin typeface="Helvetica Neue"/>
                <a:ea typeface="Helvetica Neue"/>
                <a:cs typeface="Helvetica Neue"/>
              </a:rPr>
              <a:t>A time-aware model comparison using monthly Zillow Home Value Index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A094-E8B0-47FC-AFD5-7B0429F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Michael McCue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2A7C-1787-411C-9CF9-6F9EE05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C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ECEA"/>
                </a:solidFill>
                <a:latin typeface="Helvetica Neue"/>
                <a:ea typeface="Helvetica Neue"/>
                <a:cs typeface="Helvetica Neue"/>
              </a:rPr>
              <a:t>Springboard Capstone Two</a:t>
            </a:r>
          </a:p>
        </p:txBody>
      </p:sp>
    </p:spTree>
    <p:extLst>
      <p:ext uri="{BB962C8B-B14F-4D97-AF65-F5344CB8AC3E}">
        <p14:creationId xmlns:p14="http://schemas.microsoft.com/office/powerpoint/2010/main" val="1952747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7CCBF-7C33-450D-9921-48F3EBF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 question and final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B1579-BDAC-46C9-B712-014FAD87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E935D-972D-4973-BFF2-B3D11E8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04D5E-5A35-4B2A-900E-767AFC5A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Can recent Florida home values predict next month's ZHVI?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FD291-5635-4BAC-8F5E-2356003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Original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59737-F4FB-417E-BA4C-FDB636E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Rank undervalued U.S. housing markets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77ACC-12BB-4C64-9C9E-CA67F22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Final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8EB64-EFAB-4A93-9E5F-0B7F623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One-month Florida ZHVI forecasting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A1F82-C5CC-484E-A313-8B0B935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available file contains state-level home values, not rent, income, or investment returns.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narrower question keeps the conclusion aligned with the data.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forecast can support monitoring, but it cannot prove that Florida is undervalued.</a:t>
            </a:r>
          </a:p>
        </p:txBody>
      </p:sp>
    </p:spTree>
    <p:extLst>
      <p:ext uri="{BB962C8B-B14F-4D97-AF65-F5344CB8AC3E}">
        <p14:creationId xmlns:p14="http://schemas.microsoft.com/office/powerpoint/2010/main" val="1003274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8ED56-F57F-408F-AE7D-7E9A4B0D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Data coverage and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9ED33-2527-4C34-8038-579BF5C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FF7AF-D097-4181-A531-CECB3AE0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A8E7F-13AF-4004-9A9B-1B8DCFC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313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F21ED-01A9-4591-AA8A-E190434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monthly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E5A7A-4857-4970-A5A7-ECA89D2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06780-6113-4DB8-B8BD-EEFCBEE8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states and D.C.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40644-4271-4097-B80A-720DBF5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8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2000-2026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3AA7F-AB2F-4D2D-A737-7710F3EE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monthly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51843-F109-4313-82E7-D03B90D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72A8D-E759-436E-99AD-4075E031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missing Florida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8C3E0-F0A2-4731-9E16-A510EE3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990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first column stores dates; the other columns store state-level ZHVI values.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Nine state columns contain some missing months, but Florida is complete.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revised workflow selects Florida before dropping missing rows, preserving all valid history.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earlier notebook recorded Kaggle as the download location. Zillow is the underlying publisher.</a:t>
            </a:r>
          </a:p>
        </p:txBody>
      </p:sp>
    </p:spTree>
    <p:extLst>
      <p:ext uri="{BB962C8B-B14F-4D97-AF65-F5344CB8AC3E}">
        <p14:creationId xmlns:p14="http://schemas.microsoft.com/office/powerpoint/2010/main" val="1322220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CD5CE-1529-4D7F-9133-3A38B85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Florida's typical home value more than tripled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7AFF6-F75D-4C94-9991-28048B9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943D-4708-494F-8824-BCAAE6E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09625" y="1238250"/>
          <a:ext xmlns:a="http://schemas.openxmlformats.org/drawingml/2006/main" cx="10287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f3a02f1dc4750"/>
          </a:graphicData>
        </a:graphic>
      </p:graphicFrame>
    </p:spTree>
    <p:extLst>
      <p:ext uri="{BB962C8B-B14F-4D97-AF65-F5344CB8AC3E}">
        <p14:creationId xmlns:p14="http://schemas.microsoft.com/office/powerpoint/2010/main" val="444761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FC3D6-F9B9-4115-9AA3-DCA331F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Growth accelerated after 2020, then reversed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7996E-0A9F-46E9-B08F-C659E6D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F78B8-B0DA-49A0-9597-82BC93A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5c353f2313433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A681B-E906-408F-814C-40FC3BB0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29.0%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CF2E7-E6AF-4E10-A0F5-E82D2D58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28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peak one-year growth</a:t>
            </a:r>
          </a:p>
          <a:p xmlns:a="http://schemas.openxmlformats.org/drawingml/2006/main">
            <a:pPr algn="ctr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June 2022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E6DFE-4892-4C61-A2B3-CC5C9F0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-4.9%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B53-0F0E-4959-99C7-A45DA133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81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3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latest one-year change</a:t>
            </a:r>
          </a:p>
          <a:p xmlns:a="http://schemas.openxmlformats.org/drawingml/2006/main">
            <a:pPr algn="ctr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481619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064D6-FD89-4D86-8018-3D38D46C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Forecast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92F26-2C54-4D21-AC6B-1F3AEF95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8042F-B73B-472F-96A8-201285C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8A7B5-F97E-4C33-B076-41AA34B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Recent levels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95BE7-B328-4C07-BD13-52D10B1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1, 2, 3, 6, and 12-month lags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355BF-BC42-44D0-8836-0147F8AF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Local trend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FC948-8CAF-4C00-A7A6-BED04130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2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3 and 6-month rolling means</a:t>
            </a:r>
          </a:p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6-month rolling standard deviation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60A58-E76E-4E3C-8EAD-0AFBC2D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DA81D-801D-426C-8C39-1E45A18A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Sine and cosine encoding for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5918D-FBB7-4399-A3F7-5427510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Every feature uses data from prior months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7FA26-8EC4-43CA-B46A-36059E04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The first 12 rows are removed after lag creation, leaving 301 modeling months.</a:t>
            </a:r>
          </a:p>
        </p:txBody>
      </p:sp>
    </p:spTree>
    <p:extLst>
      <p:ext uri="{BB962C8B-B14F-4D97-AF65-F5344CB8AC3E}">
        <p14:creationId xmlns:p14="http://schemas.microsoft.com/office/powerpoint/2010/main" val="1643305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69050-2338-42AD-8A7B-BCC260D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Time-aware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58A32-484A-4226-B047-A04E8996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6992E-F140-4B1A-88E7-0E3CF447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0D34D-FFD3-4231-BAEF-1C08C03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79446-23B6-4AC9-81C8-DD658D6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Jan 2001-Dec 2020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6DD4B-6CD0-4226-B550-B2EA1A2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240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CBCB-63CF-4029-BF9A-ECA0C4C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Model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AF09B-CA34-4A80-9E6E-C9B68FF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5 expanding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794E7-7546-49C5-8258-0040514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MAE is the tuning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AC31-4D5E-4F9B-A977-CFB7BB4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76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Final holdout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5B752-7EDF-4B96-A4BC-C0A6D7B7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Jan 2021-Jan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C2523-FA32-40E6-9309-EFE1D2EC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61 untouched months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25D57-1C7B-4958-986B-59FF052B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57625"/>
            <a:ext cx="7715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Each validation period occurs after its training period.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Scaling is fitted inside the regression pipeline for each fold.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The final model is chosen before the holdout results are reviewed.</a:t>
            </a:r>
          </a:p>
        </p:txBody>
      </p:sp>
    </p:spTree>
    <p:extLst>
      <p:ext uri="{BB962C8B-B14F-4D97-AF65-F5344CB8AC3E}">
        <p14:creationId xmlns:p14="http://schemas.microsoft.com/office/powerpoint/2010/main" val="1542390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3A4FC-F903-4E7F-9B2F-7662893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Ridge had the lowest validation MAE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5441D-13FA-4A90-A568-8281201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65CEB-AB81-4BA5-894D-7EAFC00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952500" y="1285875"/>
          <a:ext xmlns:a="http://schemas.openxmlformats.org/drawingml/2006/main" cx="8191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790870332646d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A14BC-60E8-454B-BA47-3FBFD05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$1,292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4B31E-026D-41D2-AD29-BBCADAC6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average validation error</a:t>
            </a:r>
          </a:p>
        </p:txBody>
      </p:sp>
    </p:spTree>
    <p:extLst>
      <p:ext uri="{BB962C8B-B14F-4D97-AF65-F5344CB8AC3E}">
        <p14:creationId xmlns:p14="http://schemas.microsoft.com/office/powerpoint/2010/main" val="21929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2444E-B4F7-4A5E-BF97-92A96DAB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Ridge beat the prior-month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1277-B381-4B7B-821E-7741614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ECD62-65D0-4F9B-B377-AA7EA02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0f14c30133415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266C1-CDAB-4AED-948D-EA2BC0AE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$886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5A970-2169-4D73-8968-8D666DE4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holdout 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D6B3F-5F11-42BA-9B4E-5000D4A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0.25%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0383F-3AF4-40CE-BB71-256B1FC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62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holdout MAPE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AC142-5ACB-422F-8502-8B7C9E7C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14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67.6%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92745-752F-4046-9B5A-ED29CB6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1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lower MAE than baseline</a:t>
            </a:r>
          </a:p>
        </p:txBody>
      </p:sp>
    </p:spTree>
    <p:extLst>
      <p:ext uri="{BB962C8B-B14F-4D97-AF65-F5344CB8AC3E}">
        <p14:creationId xmlns:p14="http://schemas.microsoft.com/office/powerpoint/2010/main" val="1975027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D0E76-8D5B-4486-A148-B2973539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Errors increased during faster market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4E93E-D415-4991-B6CD-0A63D5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7F51D-A65C-409C-96BB-5ECB858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7fc554456d460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5869E-2543-42DE-A2CB-3323DD21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$178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0A683-7DDC-4C20-A52C-AE2205D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937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mean residual</a:t>
            </a:r>
          </a:p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slight underprediction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62D9D-425F-4A8D-9E29-5D13DDC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$4,075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3D175-3C4B-46B4-B166-925C6F3E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72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largest absolute</a:t>
            </a:r>
          </a:p>
          <a:p xmlns:a="http://schemas.openxmlformats.org/drawingml/2006/main">
            <a:pPr algn="ctr">
              <a:def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monthly residual</a:t>
            </a:r>
          </a:p>
        </p:txBody>
      </p:sp>
    </p:spTree>
    <p:extLst>
      <p:ext uri="{BB962C8B-B14F-4D97-AF65-F5344CB8AC3E}">
        <p14:creationId xmlns:p14="http://schemas.microsoft.com/office/powerpoint/2010/main" val="1734339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66F35-A299-4971-9D8B-4F7B6765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Tree models could not extrapolate the rising level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EAF26-3149-4801-90A8-0514046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3A7B2-F557-4034-8092-9AF6530A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212bb48d1441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DB094-9157-4903-B6AE-B59E40D4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Tree ensembles partition values seen during training. Much of the holdout period exceeded that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27FC5-35F2-4D88-8AE7-FF544D7D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A trend transformation would be required before using these models for this series.</a:t>
            </a:r>
          </a:p>
        </p:txBody>
      </p:sp>
    </p:spTree>
    <p:extLst>
      <p:ext uri="{BB962C8B-B14F-4D97-AF65-F5344CB8AC3E}">
        <p14:creationId xmlns:p14="http://schemas.microsoft.com/office/powerpoint/2010/main" val="124472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43C77-9A90-4977-BEF1-D21B7794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493A8-9113-43D7-A48F-B58948A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Michael McCue  |  Capstone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1E05D-EA83-4708-B2C5-39A09098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C7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3D2E-A20A-49AA-9E69-B1EFD261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FF83-3D21-4E1A-B956-C1A15D0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81125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ridge for one-month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8C3B4-9CFB-4C16-9FB9-F907D084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5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Retrain monthly and track live error against the persistence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C5B41-A920-448F-9227-5AD34663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4E8ED-46B4-4431-B77A-D740108F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Redefine the target for investment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0E27-8A52-4818-BD8C-A5872D4B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8137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Model longer-horizon returns, rent yield, or risk-adjusted appreciation at metro or county level.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8E3B6-1702-4DCA-80D9-4DAB12E7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6E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87E2-6B1F-4863-9A15-78BA6A05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Add explanatory housing and economic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47010-A81D-429B-94CD-967392BD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02B33"/>
                </a:solidFill>
                <a:latin typeface="Helvetica Neue"/>
                <a:ea typeface="Helvetica Neue"/>
                <a:cs typeface="Helvetica Neue"/>
              </a:rPr>
              <a:t>Combine ZHVI with rent, inventory, income, migration, and mortgage rates.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862A7-F0E6-4A5E-8569-E31D711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Accurate short-range forecasting is useful, but ZHVI alone does not measure undervaluation.</a:t>
            </a:r>
          </a:p>
        </p:txBody>
      </p:sp>
    </p:spTree>
    <p:extLst>
      <p:ext uri="{BB962C8B-B14F-4D97-AF65-F5344CB8AC3E}">
        <p14:creationId xmlns:p14="http://schemas.microsoft.com/office/powerpoint/2010/main" val="2055806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Michael McCue</dc:creator>
  <lastModifiedBy>Michael McCue</lastModifiedBy>
  <dc:title>Forecasting Florida Home Values</dc:title>
  <dcterms:created xsi:type="dcterms:W3CDTF">2026-09-09T23:34:47.4280000Z</dcterms:created>
  <dcterms:modified xsi:type="dcterms:W3CDTF">2026-09-09T23:34:47.4280000Z</dcterms:modified>
</coreProperties>
</file>